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Figtree"/>
      <p:regular r:id="rId201314"/>
    </p:embeddedFont>
    <p:embeddedFont>
      <p:font typeface="Figtree Medium"/>
      <p:regular r:id="rId201315"/>
    </p:embeddedFont>
    <p:embeddedFont>
      <p:font typeface="Figtree Bold"/>
      <p:regular r:id="rId201316"/>
    </p:embeddedFont>
    <p:embeddedFont>
      <p:font typeface="Young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2011 to 2014, Global Superstore grew to $12.64M in sales and $1.47M in profit across 25,035 orders. The analysis isolates a small number of controllable loss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and profit both rise each year, with profit growing slightly faster. The overall profit ratio is 11.6%.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 falls sharply as discounts move above 20%. The 21–30% band is already negative, and discounts of 31% or more lost about $794K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generated $757K in sales but lost $64K, with a -8.5% margin. It is the only negative sub-category.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United States led profit at $286K, followed by China at $151K and India at $129K. Turkey and Nigeria together gave back about $179K. EMEA had the lowest market profit ratio at 5.4%.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value varies sharply, but Consumer, Corporate, and Home Office segments remain balanced at 11.5% to 12.0% profit ratios. The issue is account and order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Class averages about 5 days, Second Class about 3.2, First Class about 2.2, and Same Day under one day. Shipping cost by country is the next analysis needed to explain the largest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moved from raw order-line records to validated, engineered data and two interactive Tableau dashboards. Python and pandas prepared the data; Tableau Public and GitHub supported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immediate actions are to govern discounts, fix Tables economics, and investigate the concentrated country and regional losses. Protect Copiers, Phones, and Accessories while extending the analysis with shipping-cost and RFM segmentation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BD3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BD3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8C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EBD3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30" y="1137158"/>
            <a:ext cx="5485767" cy="263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48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Global Superstore is growing, but profit leaks are concentrated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9130" y="4008041"/>
            <a:ext cx="5485767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From 2011 to 2014, sales reached $12.64M and profit $1.47M across 25,035 orders — with a small number of controllable loss drivers.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2848"/>
            <a:ext cx="5156567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Four years of growth improved the profit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3377605"/>
            <a:ext cx="5156567" cy="1866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grew from $2.26M in 2011 to $4.30M in 2014.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Profit rose from $249K to $504K.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increased 90%; profit increased 103%.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Overall profit ratio: 11.6%.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32826" y="0"/>
            <a:ext cx="5358869" cy="6858000"/>
          </a:xfrm>
          <a:prstGeom prst="rect">
            <a:avLst/>
          </a:prstGeom>
          <a:solidFill>
            <a:srgbClr val="E0A0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219" y="1440061"/>
            <a:ext cx="4800083" cy="39777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56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Discounting above 20% turns growth into loss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40682"/>
            <a:ext cx="6170557" cy="3428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04005" y="2558752"/>
            <a:ext cx="3278105" cy="3192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No-discount orders generated $1.77M in profit.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21–30% band was already negative at -$21K.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Discounts of 31% or more lost about $794K combined.</a:t>
            </a:r>
            <a:endParaRPr lang="en-US" sz="1800" dirty="0"/>
          </a:p>
          <a:p>
            <a:pPr algn="l" marL="365760" indent="-365760">
              <a:lnSpc>
                <a:spcPct val="121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The clearest controllable lever is discount governance.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56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Tables is the only sub-category losing money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385887"/>
          <a:ext cx="10972526" cy="914400"/>
        </p:xfrm>
        <a:graphic>
          <a:graphicData uri="http://schemas.openxmlformats.org/drawingml/2006/table">
            <a:tbl>
              <a:tblPr/>
              <a:tblGrid>
                <a:gridCol w="2743131"/>
                <a:gridCol w="2743131"/>
                <a:gridCol w="2743131"/>
                <a:gridCol w="2743131"/>
              </a:tblGrid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Area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Sales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Profit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Profit ratio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Technology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$4.74M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$664K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14.0%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Office Supplies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$3.79M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$518K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13.7%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Furniture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$4.11M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$285K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6.9%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Tables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$757K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-$64K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-8.5%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E22"/>
                    </a:solidFill>
                  </a:tcPr>
                </a:tc>
              </a:tr>
              <a:tr h="5268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Copiers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—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$259K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—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1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Phones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—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$217K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A1411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—</a:t>
                      </a:r>
                      <a:endParaRPr lang="en-US" sz="18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344041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Copiers and Phones were the strongest profit contributors. Furniture was the weakest category at a 6.9% profit ratio.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92693"/>
            <a:ext cx="6232171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Country losses are concentrated in a few markets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898874"/>
            <a:ext cx="5968851" cy="27953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8429" y="0"/>
            <a:ext cx="4283266" cy="6858000"/>
          </a:xfrm>
          <a:prstGeom prst="rect">
            <a:avLst/>
          </a:prstGeom>
          <a:solidFill>
            <a:srgbClr val="E0A04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24" y="228600"/>
            <a:ext cx="3826077" cy="57937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37024" y="6203672"/>
            <a:ext cx="382607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small set of countries drives both the strongest gains and deepest losses.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6145"/>
            <a:ext cx="4648084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Customer value varies sharply, while segments stay balanced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999224"/>
            <a:ext cx="4648084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spc="-128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+$8.7K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09585" y="3970734"/>
            <a:ext cx="5257668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Most profitable customer: </a:t>
            </a:r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Tamara Chand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4867910"/>
            <a:ext cx="4648084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spc="-128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-$6.2K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09585" y="5839420"/>
            <a:ext cx="5257668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Biggest customer-level loss: </a:t>
            </a:r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Cindy Stewart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E0A04A"/>
          </a:solidFill>
          <a:ln/>
        </p:spPr>
      </p:sp>
      <p:sp>
        <p:nvSpPr>
          <p:cNvPr id="8" name="Text 6"/>
          <p:cNvSpPr/>
          <p:nvPr/>
        </p:nvSpPr>
        <p:spPr>
          <a:xfrm>
            <a:off x="6680033" y="781268"/>
            <a:ext cx="551166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26" kern="100" dirty="0">
                <a:solidFill>
                  <a:srgbClr val="1A1411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SEGMENT PROFIT RATIOS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80033" y="1253371"/>
            <a:ext cx="5156071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Consumer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80033" y="1878806"/>
            <a:ext cx="5156071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11.5%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80033" y="2521982"/>
            <a:ext cx="5156071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Corporate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80033" y="3147417"/>
            <a:ext cx="5156071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12.0%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80033" y="3790593"/>
            <a:ext cx="5156071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Home Office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80033" y="4416028"/>
            <a:ext cx="5156071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11.7%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80033" y="5056981"/>
            <a:ext cx="1701361" cy="50701"/>
          </a:xfrm>
          <a:prstGeom prst="roundRect">
            <a:avLst>
              <a:gd name="adj" fmla="val 49999"/>
            </a:avLst>
          </a:prstGeom>
          <a:solidFill>
            <a:srgbClr val="8C2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680033" y="5417344"/>
            <a:ext cx="5156071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Segment mix is not the main issue; account and order economics are.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1355"/>
            <a:ext cx="6212724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Shipping speed comes with a clear service trade-off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63824"/>
            <a:ext cx="6212724" cy="43717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solidFill>
            <a:srgbClr val="E0A04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577" y="228600"/>
            <a:ext cx="3845523" cy="57937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17577" y="6203672"/>
            <a:ext cx="38455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Faster service modes materially reduce delivery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56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project turns messy order data into decision-ready analysis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79600"/>
            <a:ext cx="761981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873" y="2070100"/>
            <a:ext cx="760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50959" y="2146300"/>
            <a:ext cx="4292493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Cleaned</a:t>
            </a:r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51,290 order-line records across 27 raw columns.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879600"/>
            <a:ext cx="761981" cy="76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5752" y="2070100"/>
            <a:ext cx="8165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289618" y="2146300"/>
            <a:ext cx="4292493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Validated</a:t>
            </a:r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nulls, duplicates, duplicate IDs, and invalid shipping dates — all checks returned zero.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445272"/>
            <a:ext cx="761981" cy="762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9771" y="3635772"/>
            <a:ext cx="81119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1650959" y="3711972"/>
            <a:ext cx="4292493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Engineered</a:t>
            </a:r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order year, month, quarter, shipping days, profit margin, loss flag, and discount bands.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3445272"/>
            <a:ext cx="761981" cy="762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19699" y="3635772"/>
            <a:ext cx="8286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7289618" y="3711972"/>
            <a:ext cx="4292493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1A1411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Connected</a:t>
            </a:r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the cleaned data to two interactive Tableau dashboards.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09585" y="4963636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Tools: Python and pandas for preparation; Tableau Public for dashboards; GitHub for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56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1A141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Three actions can protect the next dollar of profit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79600"/>
            <a:ext cx="761981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873" y="2070100"/>
            <a:ext cx="760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50959" y="2070735"/>
            <a:ext cx="9931152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Cap discounts at 20%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50959" y="2696170"/>
            <a:ext cx="9931152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Require approval for anything higher.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433663"/>
            <a:ext cx="761981" cy="76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7093" y="3624163"/>
            <a:ext cx="8165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650959" y="3624798"/>
            <a:ext cx="9931152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Fix Tables economics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650959" y="4250234"/>
            <a:ext cx="9931152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Review pricing, mix, and the roughly 29% average discount.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987727"/>
            <a:ext cx="761981" cy="76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9771" y="5178227"/>
            <a:ext cx="81119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BD3A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1650959" y="5178861"/>
            <a:ext cx="9931152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Investigate Turkey, Nigeria, and EMEA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1650959" y="5804297"/>
            <a:ext cx="9931152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Isolate discount, shipping-cost, and product-mix effects before repricing or exiting.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09585" y="6494482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41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Protect Copiers, Phones, and Accessories — the strongest performers — while extending analysis with shipping-cost and RFM segmentation work.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2026-10-12T20:03:26Z</dcterms:created>
  <dcterms:modified xsi:type="dcterms:W3CDTF">2026-10-12T20:03:26Z</dcterms:modified>
</cp:coreProperties>
</file>